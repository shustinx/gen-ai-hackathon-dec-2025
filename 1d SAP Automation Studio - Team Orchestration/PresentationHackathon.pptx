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308" r:id="rId5"/>
    <p:sldId id="354" r:id="rId6"/>
    <p:sldId id="296" r:id="rId7"/>
    <p:sldId id="343" r:id="rId8"/>
    <p:sldId id="344" r:id="rId9"/>
    <p:sldId id="345" r:id="rId10"/>
    <p:sldId id="350" r:id="rId11"/>
    <p:sldId id="347" r:id="rId12"/>
    <p:sldId id="351" r:id="rId13"/>
    <p:sldId id="349" r:id="rId14"/>
    <p:sldId id="352" r:id="rId15"/>
    <p:sldId id="35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9D8547F-B3C6-41B7-AC15-B21357C26C2E}">
          <p14:sldIdLst/>
        </p14:section>
        <p14:section name="Title/intro examples" id="{EAFC2341-9A9E-4C28-BFFA-6B825D0AC4BA}">
          <p14:sldIdLst>
            <p14:sldId id="308"/>
            <p14:sldId id="354"/>
          </p14:sldIdLst>
        </p14:section>
        <p14:section name="Section divider examples" id="{A9F40A45-B498-491F-B229-1F4185ACF804}">
          <p14:sldIdLst>
            <p14:sldId id="296"/>
            <p14:sldId id="343"/>
            <p14:sldId id="344"/>
            <p14:sldId id="345"/>
            <p14:sldId id="350"/>
            <p14:sldId id="347"/>
            <p14:sldId id="351"/>
            <p14:sldId id="349"/>
            <p14:sldId id="352"/>
            <p14:sldId id="353"/>
          </p14:sldIdLst>
        </p14:section>
        <p14:section name="Content slide examples" id="{C335665F-6942-4633-9A59-9BC53EDA1E36}">
          <p14:sldIdLst/>
        </p14:section>
        <p14:section name="Closing slide example" id="{11C5BCDD-05AC-405B-8582-D9D1C38F3D1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EB81"/>
    <a:srgbClr val="E6DCFF"/>
    <a:srgbClr val="0041F0"/>
    <a:srgbClr val="DCAFFF"/>
    <a:srgbClr val="FF50A0"/>
    <a:srgbClr val="FF3246"/>
    <a:srgbClr val="00FFFF"/>
    <a:srgbClr val="D4D4D4"/>
    <a:srgbClr val="BE8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D11FCF-30B7-46D6-842A-A2C630CDE0D5}" v="8" dt="2024-04-13T12:46:10.567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45" autoAdjust="0"/>
  </p:normalViewPr>
  <p:slideViewPr>
    <p:cSldViewPr snapToGrid="0" showGuides="1">
      <p:cViewPr varScale="1">
        <p:scale>
          <a:sx n="55" d="100"/>
          <a:sy n="55" d="100"/>
        </p:scale>
        <p:origin x="1096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54CD-E019-4C08-B5A4-5F61D7C5C7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6E358-2729-446E-A347-B15F9BDA98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A78113E-7EB8-4DE2-8CBF-D29C62304622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63AAD7-74C8-41FD-9725-0A3F857D6E2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D7EB03D-A4F9-4B94-8D66-50E64636E3D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agenda summary </a:t>
            </a:r>
            <a:r>
              <a:rPr lang="en-GB" dirty="0"/>
              <a:t>here in Palatino Linotype 24pt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C36967-E06B-4969-8A84-34414BB2719E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FC62F-A91E-4A96-A8DD-B514B9CC7898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97E9-6648-4C18-B41E-51CD1E7E36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08054-D45D-43B9-A715-CB9811EA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8EF8B7-9D2C-4DDE-ABE1-8FC06C7B0A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4BD60C-9F72-40D7-86A8-E9D46FD1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117A191-D16A-460E-B7BA-7BF7C04A205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61201FE-E268-4CDE-95EA-46510FB9E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3EBB-4B76-4B76-A883-A5F8C55DD7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2282C-BD3B-4F10-981C-FDEEBAADFF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98C7D2-83A7-4A9C-99DF-E18DFFFE1B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202BE-D67B-4652-93F1-A99CED0D15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C61CF-EB8A-421E-B9B8-AA3A4D90D3F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CFCDC-02F2-450B-8A41-6D602E21D74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73D0-E25F-4121-B46E-C977B93C85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01770-C3F9-4ABD-9427-010C745B605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FFAF-2A5A-4146-8785-B71A2FFAD7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41B1F-78D9-4953-A12A-4B67B6AF38A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96DA2C-092A-4DF9-A6E7-8B070164528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5C63E-F15E-4C0B-AF50-21103AC68C3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5FEE-951C-4AB1-A5BA-733E8D6B70A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443840-6E6B-4EB9-979C-F63E32C2A65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531F-1F72-4FFD-8F72-619B3652C1F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109A-368D-4DCA-B078-4A0F050889E0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0C8D5-C033-461A-958D-290DCBC41F1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F35D7-1CC8-4C79-A1E0-8638A1ED7CAD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01404-8E34-4C2F-8D99-239BD7B8841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84481-1B7D-4FEF-AD70-CBFD72F6213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611A-32AD-4363-9F59-4DD34EEBD07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0E5A3736-C9C6-4311-80A7-2FFA47E25154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0291C7-0C7B-43D2-8CFC-304243A1CD04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EADAF-2195-4A35-8FEB-B95CCB8CCE5C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4FC82-B8F8-4C4C-8DB2-C1B82A51B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32B40-3B58-479B-A589-9823B0E14C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8D53ECFC-028B-4E16-9620-7FF8225BDC2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</a:t>
            </a:r>
            <a:r>
              <a:rPr lang="en-GB" dirty="0"/>
              <a:t>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DB60-63D2-4785-893C-E73763A372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511C9-42FA-4DE8-9CC5-2E1BE2E664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77C3923-DF26-4DDD-85E3-7AA6D35E27B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CC36B3-A978-4435-96FC-F8B3A1FA66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BAD95D-8CC0-461D-B13E-1E3ABF7456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86A7A-D9D5-47DA-82CE-8DBF6730F5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4972-5B37-42E7-9449-D3BA0BF560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EE3D-E490-48C4-9EDD-A3D64349DFA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B91A-AC4F-4911-8401-AA8DD14F283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5A95DA0-4CC3-42BB-A186-3CFB82C7DFEA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B70CB6-23E9-4FFC-BB1B-65EBB057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0A698-E7DB-4624-B7D9-5624ABB23E7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0E20-EA02-4CDC-95F3-0B3EA7041BD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270D0A86-B078-47E6-B09D-9429129BD76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ED2B-6496-48D2-9FCC-98A919B6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338B-4F4A-4077-99F7-2698BAA54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69CB13A-E4BB-46D3-936E-B4BD4E53CAA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68B3B-7EEB-4EA8-993C-430603A1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01CF-71D3-40C7-8168-8E9BC701A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C9D1668-977E-453D-82ED-6ABCFF280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91A68-0526-4B10-8725-674ED46D4C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03CB-4264-4F68-9F35-0391A50E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BF2708B-7411-439F-ACDE-ACBD46CABC0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258A-0B44-43BE-A3B3-ECE0D5D5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A548-5D5A-420A-BF48-ADAACADF1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3B5648-1933-4CE2-8092-54D37C74B7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77EF44-2533-4C8A-9BCE-17E84D8B3A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A793-E8C8-48E9-8AD9-3AA6101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117D-BB63-449A-A809-AA330D35A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455F6FE-666E-402E-9B6E-AF3462A6F6CE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FB5035-7C72-43BF-A8DB-A7280ED54461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265254" y="746247"/>
            <a:ext cx="7362462" cy="3490087"/>
          </a:xfrm>
        </p:spPr>
        <p:txBody>
          <a:bodyPr/>
          <a:lstStyle/>
          <a:p>
            <a:r>
              <a:rPr lang="en-US" dirty="0"/>
              <a:t>Accelerating SAP Integration with LLMs – Hackathon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9C304-423F-4288-926C-47BD259C67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265254" y="4914063"/>
            <a:ext cx="3102015" cy="784378"/>
          </a:xfrm>
        </p:spPr>
        <p:txBody>
          <a:bodyPr/>
          <a:lstStyle/>
          <a:p>
            <a:r>
              <a:rPr lang="de-DE" dirty="0"/>
              <a:t>Merve Erdem, Andreas Schneider</a:t>
            </a:r>
          </a:p>
          <a:p>
            <a:r>
              <a:rPr lang="de-DE" dirty="0"/>
              <a:t>Richard Herzog, Dominik Gils</a:t>
            </a:r>
          </a:p>
          <a:p>
            <a:r>
              <a:rPr lang="de-DE" dirty="0"/>
              <a:t>Marco Beier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9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114447-DBBE-2A32-EC4A-DE60AFC7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0"/>
          </a:xfrm>
        </p:spPr>
        <p:txBody>
          <a:bodyPr anchor="t">
            <a:normAutofit/>
          </a:bodyPr>
          <a:lstStyle/>
          <a:p>
            <a:r>
              <a:rPr lang="de-DE" dirty="0"/>
              <a:t>Agenda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6CFE39A1-2547-7136-1AB7-A30303A9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6C78F02-95D9-057A-002A-39DB9B13C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0222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532619" y="1782922"/>
          <a:ext cx="9126765" cy="4117660"/>
        </p:xfrm>
        <a:graphic>
          <a:graphicData uri="http://schemas.openxmlformats.org/drawingml/2006/table">
            <a:tbl>
              <a:tblPr bandRow="1">
                <a:noFill/>
                <a:tableStyleId>{A0BC3CC4-8867-4C89-9D3F-A6A6B9ED4035}</a:tableStyleId>
              </a:tblPr>
              <a:tblGrid>
                <a:gridCol w="2553151">
                  <a:extLst>
                    <a:ext uri="{9D8B030D-6E8A-4147-A177-3AD203B41FA5}">
                      <a16:colId xmlns:a16="http://schemas.microsoft.com/office/drawing/2014/main" val="2015255907"/>
                    </a:ext>
                  </a:extLst>
                </a:gridCol>
                <a:gridCol w="6573614">
                  <a:extLst>
                    <a:ext uri="{9D8B030D-6E8A-4147-A177-3AD203B41FA5}">
                      <a16:colId xmlns:a16="http://schemas.microsoft.com/office/drawing/2014/main" val="109175145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3300" b="1" cap="none" spc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Context &amp; Objective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20141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3300" b="1" cap="none" spc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Key Steps &amp; Decisions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48557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3300" b="1" cap="none" spc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Implementation &amp; Outcomes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715729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3300" b="1" cap="none" spc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Lessons Learned &amp; Recommendations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85908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3300" b="1" cap="none" spc="0">
                          <a:solidFill>
                            <a:schemeClr val="bg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Next Steps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132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41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12FC18-32C4-4C31-95F9-1B65B1F63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74" y="1554018"/>
            <a:ext cx="4952999" cy="3915092"/>
          </a:xfrm>
        </p:spPr>
        <p:txBody>
          <a:bodyPr/>
          <a:lstStyle/>
          <a:p>
            <a:r>
              <a:rPr lang="en-GB"/>
              <a:t>Context &amp; Objective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C3EDF-7D22-4BBE-8347-4B8BDA4D5E2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A243E-1C76-CB85-FA6B-455857A88A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59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A4E0-63A1-4567-B6F2-13D91D4B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&amp; Objective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22300-58C0-4AD1-A120-CA2E3F403A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234994"/>
            <a:ext cx="11430000" cy="38404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A6797-48C6-4420-B292-163D7C7B780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438" y="1949194"/>
            <a:ext cx="11430000" cy="4362706"/>
          </a:xfrm>
        </p:spPr>
        <p:txBody>
          <a:bodyPr/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Project Goal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Enable seamless interaction between SAP systems and Large Language Models to enhance automation and user experience.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Integration Approach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Evaluated direct MCP setup, considering existing MCP server infrastructure for scalable integration.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Strategic Balance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Balanced technical feasibility with organizational policy compliance ensuring secure and effective deployment.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Future Foundation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Created a robust foundation for AI-driven enhancements to improve SAP operations and enterprise workflows.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55B86-5413-41E1-B92A-FA9387F41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4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8CF99-0A07-C46D-214A-A011A112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5D3692-A12A-EEB5-295E-BEE6399B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74" y="1554018"/>
            <a:ext cx="4952999" cy="3915092"/>
          </a:xfrm>
        </p:spPr>
        <p:txBody>
          <a:bodyPr/>
          <a:lstStyle/>
          <a:p>
            <a:r>
              <a:rPr lang="en-US" dirty="0"/>
              <a:t>Key Steps &amp; Decisions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5E9D9-0EF3-4230-CF14-0D71E20ADAB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E2C41-ABF5-5886-CEA3-0A6EF892A9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99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BAFEB-41BD-6923-A5C7-944722F4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A937-E7E6-CDC3-A93D-B004321A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Steps &amp; Decisions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CA48F-F432-CF6E-5532-DD72281886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234994"/>
            <a:ext cx="11430000" cy="38404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0F0CB-3795-D5F4-895A-87CE3CAA61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438" y="1949194"/>
            <a:ext cx="11430000" cy="4362706"/>
          </a:xfrm>
        </p:spPr>
        <p:txBody>
          <a:bodyPr/>
          <a:lstStyle/>
          <a:p>
            <a:pPr marL="0" indent="0">
              <a:spcBef>
                <a:spcPts val="2500"/>
              </a:spcBef>
              <a:buNone/>
            </a:pPr>
            <a:r>
              <a:rPr lang="en-US" sz="1300" b="1" dirty="0"/>
              <a:t>Explored Integration Tools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300" dirty="0"/>
              <a:t>The team evaluated Microsoft365 Copilot, Copilot Studio, and Visual Studio Code, each offering distinct prompt and logic management features.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300" b="1" dirty="0"/>
              <a:t>Technical Issues and Fixes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300" dirty="0"/>
              <a:t>Issues like '</a:t>
            </a:r>
            <a:r>
              <a:rPr lang="en-US" sz="1300" dirty="0" err="1"/>
              <a:t>TypeError</a:t>
            </a:r>
            <a:r>
              <a:rPr lang="en-US" sz="1300" dirty="0"/>
              <a:t>: fetch failed' were fixed by updating Node.js and refactoring manifest metadata for compliance.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300" b="1" dirty="0"/>
              <a:t>Policy and Permission Challenges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300" dirty="0"/>
              <a:t>App upload restrictions were addressed by creating Developer Accounts and adjusting tenant policies, with a delay for policy propagation. 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300" dirty="0"/>
              <a:t>However, this was not required, as the team was only able to execute the MCP locally.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EDC90-19D7-13A7-DAE7-BEE817871C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6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AD391-1A2C-79AB-2F8C-2E01B3BA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3C2A4C-E479-44A7-4B53-554481F7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74" y="1554018"/>
            <a:ext cx="6909939" cy="3915092"/>
          </a:xfrm>
        </p:spPr>
        <p:txBody>
          <a:bodyPr/>
          <a:lstStyle/>
          <a:p>
            <a:r>
              <a:rPr lang="en-US" dirty="0"/>
              <a:t>Implementation &amp; Outcomes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66BF6-0F58-627B-F530-78581DFDFE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2B450-80D7-64F5-9791-E34C727003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120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8CB8-A4D0-02BA-831A-0FE85407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6574-3234-0DE0-A759-B2667E27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&amp;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E6867-C5D5-78A5-6C8E-D9CB3FCD4F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438" y="1949194"/>
            <a:ext cx="11430000" cy="4362706"/>
          </a:xfrm>
        </p:spPr>
        <p:txBody>
          <a:bodyPr/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Frontend Access via Prompts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Frontend enables access to </a:t>
            </a:r>
            <a:r>
              <a:rPr lang="en-US" sz="1400" dirty="0" err="1"/>
              <a:t>plugin.json</a:t>
            </a:r>
            <a:r>
              <a:rPr lang="en-US" sz="1400" dirty="0"/>
              <a:t> through defined prompts enhancing user interactions and data retrieval.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Secure Backend Connectivity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Backend calls need to employ VPN or proxy configurations to maintain secure connections within local network environments.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Modular Backend Actions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Backend implements prompts like '</a:t>
            </a:r>
            <a:r>
              <a:rPr lang="en-US" sz="1400" dirty="0" err="1"/>
              <a:t>trigger_goods_receipt</a:t>
            </a:r>
            <a:r>
              <a:rPr lang="en-US" sz="1400" dirty="0"/>
              <a:t>' and handler methods for efficient SAP operation integration.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Integration Outcomes and Challenges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Local backend integration succeeded with GitHub Copilot; cloud integration awaits network and policy adjustments.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24B30-E275-21D7-D4F7-CEE31EDCC6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58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CCFA9-6083-C17D-F0A4-AA2CC324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812482-30F5-CE24-7F5A-8740D1627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74" y="1554018"/>
            <a:ext cx="7882212" cy="3915092"/>
          </a:xfrm>
        </p:spPr>
        <p:txBody>
          <a:bodyPr/>
          <a:lstStyle/>
          <a:p>
            <a:r>
              <a:rPr lang="en-US" dirty="0"/>
              <a:t>Lessons Learned &amp; Recommendations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99663-9739-EEE1-F253-8D7B81BAF01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575CB-68A2-E310-47D4-9351406FD7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605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1B3B3-FBE9-65C8-0018-BA73DA606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5060-5C21-830A-872C-13C52F329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&amp; 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BA709-F2A0-7299-701E-E976EE21B2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234994"/>
            <a:ext cx="11430000" cy="38404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04BA9-BF88-D8FA-41F0-F6D456A557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438" y="1949194"/>
            <a:ext cx="11430000" cy="4362706"/>
          </a:xfrm>
        </p:spPr>
        <p:txBody>
          <a:bodyPr/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Early Cross-Team Engagement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Engaging IT and administrative teams early aligns policies and speeds up project timelines effectively.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Technical Readiness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Keeping environments updated and separating frontend from backend prevents integration bottlenecks.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Proactive Project Roadmap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Proactive planning and collaboration guide future AI integration in enterprise systems successfully.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2BA2C-E8AF-B16A-704F-0995B67D0C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04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36E3-1EA4-9C43-1AED-4ED26814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183A4D-7403-88D8-3473-328657C76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74" y="1554018"/>
            <a:ext cx="7882212" cy="3915092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7FE1E-54F0-02F0-B23A-84FF495BA0C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59B674-041D-467C-0058-96D01A2909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8682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4D349-D0F2-E947-BF30-3A4E0340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93AE-B3CB-17E7-9F23-6BED5AFB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98E62-A5CE-947C-E9F3-91C2C8D515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234994"/>
            <a:ext cx="11430000" cy="38404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B3050-9BF8-3EEE-4F52-064FE1669C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438" y="1949194"/>
            <a:ext cx="11430000" cy="4362706"/>
          </a:xfrm>
        </p:spPr>
        <p:txBody>
          <a:bodyPr/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Collaboration with SAP Teams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Partnering with SAP Basis teams is vital to set up secure proxy connections for backend systems.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Testing with Mock Data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Using mock data to expand backend logic allows thorough testing and validation before full deployment.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AI-Driven SAP Adoption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Implementing AI-driven SAP interactions will enhance operational efficiency and user satisfaction organization-wide.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1222A-EA65-8552-DFBC-4699E669B7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857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8524515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Arial_Fixed-Accessibility_2024" id="{933D12F4-E6D8-2544-BB9E-9972CA3939D1}" vid="{E17AB01B-D3BF-AE46-80F5-E0B27047D7E1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5adb0d-5ccc-41a2-ac42-9ea6d82fea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CF1409118DB34F83C10ABCEF352B99" ma:contentTypeVersion="13" ma:contentTypeDescription="Create a new document." ma:contentTypeScope="" ma:versionID="6f4da9c59726fa3a18de58122e35bafb">
  <xsd:schema xmlns:xsd="http://www.w3.org/2001/XMLSchema" xmlns:xs="http://www.w3.org/2001/XMLSchema" xmlns:p="http://schemas.microsoft.com/office/2006/metadata/properties" xmlns:ns3="a75adb0d-5ccc-41a2-ac42-9ea6d82fea8d" xmlns:ns4="40d263c0-1552-49d9-be0b-927d06249698" targetNamespace="http://schemas.microsoft.com/office/2006/metadata/properties" ma:root="true" ma:fieldsID="db5176b1558b97baedaff29b471f170f" ns3:_="" ns4:_="">
    <xsd:import namespace="a75adb0d-5ccc-41a2-ac42-9ea6d82fea8d"/>
    <xsd:import namespace="40d263c0-1552-49d9-be0b-927d062496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5adb0d-5ccc-41a2-ac42-9ea6d82fea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d263c0-1552-49d9-be0b-927d0624969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BFFC05-B2F6-4CED-BE65-F75B1EB7AD7B}">
  <ds:schemaRefs>
    <ds:schemaRef ds:uri="40d263c0-1552-49d9-be0b-927d06249698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a75adb0d-5ccc-41a2-ac42-9ea6d82fea8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79EFE0-BB47-4503-9CB2-42B4E43B7B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5adb0d-5ccc-41a2-ac42-9ea6d82fea8d"/>
    <ds:schemaRef ds:uri="40d263c0-1552-49d9-be0b-927d062496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Acc_PPT_IMP_Tmplt_Arial_Fixed-Accessibility_2024</Template>
  <TotalTime>0</TotalTime>
  <Words>438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Palatino Linotype</vt:lpstr>
      <vt:lpstr>System Font</vt:lpstr>
      <vt:lpstr>Accenture 2020</vt:lpstr>
      <vt:lpstr>Accelerating SAP Integration with LLMs – Hackathon Insights</vt:lpstr>
      <vt:lpstr>Agenda</vt:lpstr>
      <vt:lpstr>Context &amp; Objective</vt:lpstr>
      <vt:lpstr>Context &amp; Objective</vt:lpstr>
      <vt:lpstr>Key Steps &amp; Decisions</vt:lpstr>
      <vt:lpstr>Key Steps &amp; Decisions</vt:lpstr>
      <vt:lpstr>Implementation &amp; Outcomes</vt:lpstr>
      <vt:lpstr>Implementation &amp; Outcomes</vt:lpstr>
      <vt:lpstr>Lessons Learned &amp; Recommendations</vt:lpstr>
      <vt:lpstr>Lessons Learned &amp; Recommendations</vt:lpstr>
      <vt:lpstr>Next Steps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this template</dc:title>
  <dc:subject>Accenture PowerPoint Template 16x9 Arial</dc:subject>
  <dc:creator>Schneider, Andreas</dc:creator>
  <cp:lastModifiedBy>Gils, Dominik</cp:lastModifiedBy>
  <cp:revision>10</cp:revision>
  <cp:lastPrinted>2020-11-17T04:05:48Z</cp:lastPrinted>
  <dcterms:created xsi:type="dcterms:W3CDTF">2024-03-28T14:26:18Z</dcterms:created>
  <dcterms:modified xsi:type="dcterms:W3CDTF">2025-12-03T17:16:02Z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0x010100FECF1409118DB34F83C10ABCEF352B99</vt:lpwstr>
  </property>
</Properties>
</file>